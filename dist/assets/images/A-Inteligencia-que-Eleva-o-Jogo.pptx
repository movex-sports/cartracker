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Poppins Light" panose="00000400000000000000" pitchFamily="2" charset="0"/>
      <p:regular r:id="rId10"/>
    </p:embeddedFont>
    <p:embeddedFont>
      <p:font typeface="Roboto Light" panose="02000000000000000000" pitchFamily="2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78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9941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MOVEX SPORTS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55006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Inteligência que Eleva o Jogo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39037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Tecnologia GPS de ponta para atletas, escolas e centros esportivos que buscam performance profissional.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423193"/>
            <a:ext cx="476912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Solução: Tecnologia de Precisão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92837" y="1805732"/>
            <a:ext cx="607888" cy="173013"/>
          </a:xfrm>
          <a:prstGeom prst="roundRect">
            <a:avLst>
              <a:gd name="adj" fmla="val 19789"/>
            </a:avLst>
          </a:prstGeom>
          <a:solidFill>
            <a:srgbClr val="252528"/>
          </a:solidFill>
          <a:ln/>
        </p:spPr>
      </p:sp>
      <p:sp>
        <p:nvSpPr>
          <p:cNvPr id="5" name="Text 2"/>
          <p:cNvSpPr/>
          <p:nvPr/>
        </p:nvSpPr>
        <p:spPr>
          <a:xfrm>
            <a:off x="5853931" y="1836241"/>
            <a:ext cx="942901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TECNOLOGIA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792837" y="2007989"/>
            <a:ext cx="2299171" cy="509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GPS de Alta Frequência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92837" y="2590651"/>
            <a:ext cx="2299171" cy="626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GPS compactos e precisos que transformam cada movimento em dados acionáveis. Monitoramento total da atividade em tempo real.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80" y="4240113"/>
            <a:ext cx="152772" cy="1527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7673" y="4236988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Flexibilidade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387673" y="4440138"/>
            <a:ext cx="3138487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GPS reutilizável, permitindo conectar com diferentes atletas nos jogos ou treinos seguintes (não é de uso dedicado para cada atleta)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5865" y="4240113"/>
            <a:ext cx="152772" cy="1527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48758" y="4236988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Versátil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948758" y="4440138"/>
            <a:ext cx="3138562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Os GPS são capazes de funcionar desde campos profissionais até quadras poliesportivas</a:t>
            </a:r>
            <a:endParaRPr lang="en-US" sz="8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0E4CEC3-B141-5936-D627-075F6C9C53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544" t="22768" b="4329"/>
          <a:stretch/>
        </p:blipFill>
        <p:spPr>
          <a:xfrm>
            <a:off x="1056605" y="923879"/>
            <a:ext cx="3744924" cy="29276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774"/>
            <a:ext cx="589560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Solução: Tecnologia de Precisão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35782"/>
            <a:ext cx="3981971" cy="26546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03206" y="1502271"/>
            <a:ext cx="766614" cy="233660"/>
          </a:xfrm>
          <a:prstGeom prst="roundRect">
            <a:avLst>
              <a:gd name="adj" fmla="val 18475"/>
            </a:avLst>
          </a:prstGeom>
          <a:solidFill>
            <a:srgbClr val="252528"/>
          </a:solidFill>
          <a:ln/>
        </p:spPr>
      </p:sp>
      <p:sp>
        <p:nvSpPr>
          <p:cNvPr id="5" name="Text 2"/>
          <p:cNvSpPr/>
          <p:nvPr/>
        </p:nvSpPr>
        <p:spPr>
          <a:xfrm>
            <a:off x="6080224" y="1540743"/>
            <a:ext cx="1069777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TECNOLOGIA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003206" y="1782440"/>
            <a:ext cx="2649364" cy="963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Antenas de calibração automática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03206" y="2862337"/>
            <a:ext cx="26493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 antenas possuem calibração automática e utilização simples, com apenas 1 comando para cada fluxo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264" y="4056311"/>
            <a:ext cx="192658" cy="1926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3581" y="405236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Robustez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13581" y="4322862"/>
            <a:ext cx="358564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Antenas resistentes e de fácil instalação, com baterias 100% recarregáveis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2848" y="4056311"/>
            <a:ext cx="192658" cy="1926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62165" y="405236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Eficiência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062165" y="4322862"/>
            <a:ext cx="358571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 antenas aumentam a precisão dos dados, apenas 3 antes é o suficiente para medidas precisas e consistentes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417463"/>
            <a:ext cx="4962079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Visualizando o Sucesso: Mapa de Calor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868412"/>
            <a:ext cx="3096220" cy="30962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90244" y="1942951"/>
            <a:ext cx="671885" cy="163934"/>
          </a:xfrm>
          <a:prstGeom prst="roundRect">
            <a:avLst>
              <a:gd name="adj" fmla="val 19068"/>
            </a:avLst>
          </a:prstGeom>
          <a:noFill/>
          <a:ln w="4763">
            <a:solidFill>
              <a:srgbClr val="F2F2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50817" y="1975619"/>
            <a:ext cx="1007938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ANÁLISE TÁTICA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90244" y="2131293"/>
            <a:ext cx="3096220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Posicionamento Baseado em Dados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90244" y="2657401"/>
            <a:ext cx="309622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mapa de calor revela padrões invisíveis a olho nu. O atleta e o treinador identificam com precisão: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362298" y="4102001"/>
            <a:ext cx="2099072" cy="623962"/>
          </a:xfrm>
          <a:prstGeom prst="roundRect">
            <a:avLst>
              <a:gd name="adj" fmla="val 626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0078" y="419978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Zonas de Domínio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0078" y="4381723"/>
            <a:ext cx="1903512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Onde o atleta mais atua e influencia o jogo.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522390" y="4102001"/>
            <a:ext cx="2099146" cy="623962"/>
          </a:xfrm>
          <a:prstGeom prst="roundRect">
            <a:avLst>
              <a:gd name="adj" fmla="val 626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20170" y="4199781"/>
            <a:ext cx="1180728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Falhas de Cobertura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20170" y="4381723"/>
            <a:ext cx="190358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Áreas que precisam de mais presença tática.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682555" y="4102001"/>
            <a:ext cx="2099072" cy="623962"/>
          </a:xfrm>
          <a:prstGeom prst="roundRect">
            <a:avLst>
              <a:gd name="adj" fmla="val 626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80336" y="419978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Correção Imediata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80336" y="4381723"/>
            <a:ext cx="190351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Ajustes baseados em evidências, não em palpites.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414189"/>
            <a:ext cx="5003304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Visualizando o Sucesso: Mapa de Sprints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850553"/>
            <a:ext cx="3022550" cy="30225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87491" y="1901875"/>
            <a:ext cx="656481" cy="159321"/>
          </a:xfrm>
          <a:prstGeom prst="roundRect">
            <a:avLst>
              <a:gd name="adj" fmla="val 19153"/>
            </a:avLst>
          </a:prstGeom>
          <a:noFill/>
          <a:ln w="4763">
            <a:solidFill>
              <a:srgbClr val="F2F2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46724" y="1933873"/>
            <a:ext cx="995214" cy="95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ANÁLISE TÁTICA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87491" y="2084412"/>
            <a:ext cx="3022550" cy="4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Domine a intensidade e o esforço do atleta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87491" y="2596604"/>
            <a:ext cx="3022550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Monitore o volume e a intensidade de cada sprint. Saiba exatamente quando acelerar e quando preservar energia.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438721" y="4003923"/>
            <a:ext cx="2050107" cy="725314"/>
          </a:xfrm>
          <a:prstGeom prst="roundRect">
            <a:avLst>
              <a:gd name="adj" fmla="val 52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34269" y="4099471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Controle de Esforço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534269" y="4276279"/>
            <a:ext cx="1859012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Monitore o volume e a intensidade de cada sprint. Saiba exatamente quando acelerar e quando preservar energia.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546946" y="4003923"/>
            <a:ext cx="2050107" cy="725314"/>
          </a:xfrm>
          <a:prstGeom prst="roundRect">
            <a:avLst>
              <a:gd name="adj" fmla="val 52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42494" y="4099471"/>
            <a:ext cx="133923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Prevenção de Desgaste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42494" y="4276279"/>
            <a:ext cx="1859012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 monitoramento de carga evita sobrecarga muscular e reduz o risco de lesões ao longo da temporada.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655171" y="4003923"/>
            <a:ext cx="2050107" cy="725314"/>
          </a:xfrm>
          <a:prstGeom prst="roundRect">
            <a:avLst>
              <a:gd name="adj" fmla="val 525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50719" y="4099471"/>
            <a:ext cx="1429866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Performance Consistente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50719" y="4276279"/>
            <a:ext cx="1859012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 primeiro ao último minuto de jogo: rendimento máximo sustentado com inteligência e estratégia.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103" y="1642839"/>
            <a:ext cx="3302794" cy="18578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445963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Elevando o Nível de Escolas e Quadras</a:t>
            </a:r>
            <a:endParaRPr lang="en-US" sz="2450" dirty="0"/>
          </a:p>
        </p:txBody>
      </p:sp>
      <p:sp>
        <p:nvSpPr>
          <p:cNvPr id="5" name="Shape 1"/>
          <p:cNvSpPr/>
          <p:nvPr/>
        </p:nvSpPr>
        <p:spPr>
          <a:xfrm>
            <a:off x="496119" y="1403672"/>
            <a:ext cx="2305124" cy="1781621"/>
          </a:xfrm>
          <a:prstGeom prst="roundRect">
            <a:avLst>
              <a:gd name="adj" fmla="val 2976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27087" y="1534641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F2F2F3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267" y="1638746"/>
            <a:ext cx="170408" cy="1704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7087" y="2025848"/>
            <a:ext cx="200984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Posicionamento Premium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27087" y="2290539"/>
            <a:ext cx="2043187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Centros esportivos que adotam tecnologia MOVEX se destacam no mercado com uma proposta de valor superior.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2913683" y="1403672"/>
            <a:ext cx="2305199" cy="1781621"/>
          </a:xfrm>
          <a:prstGeom prst="roundRect">
            <a:avLst>
              <a:gd name="adj" fmla="val 2976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044651" y="1534641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F2F2F3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48831" y="1638746"/>
            <a:ext cx="170408" cy="170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044651" y="2025848"/>
            <a:ext cx="164038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Experiência de Clube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044651" y="2290539"/>
            <a:ext cx="20432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mesma tecnologia usada por atletas profissionais agora disponível na sua estrutura esportiva.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496119" y="3297734"/>
            <a:ext cx="4722763" cy="1399729"/>
          </a:xfrm>
          <a:prstGeom prst="roundRect">
            <a:avLst>
              <a:gd name="adj" fmla="val 378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27087" y="3428702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F2F2F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267" y="3532808"/>
            <a:ext cx="170408" cy="1704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7087" y="391991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Fidelização Real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27087" y="4184600"/>
            <a:ext cx="446082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Entregáveis de alto valor agregado criam vínculo emocional e mantêm alunos e atletas engajados.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8809"/>
            <a:ext cx="687846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Por que a Tecnologia MOVEX é Obrigatória?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09947" y="993949"/>
            <a:ext cx="2920157" cy="3036168"/>
          </a:xfrm>
          <a:prstGeom prst="roundRect">
            <a:avLst>
              <a:gd name="adj" fmla="val 2949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300930" y="1094854"/>
            <a:ext cx="3138190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R$ 70/mês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529530" y="1508968"/>
            <a:ext cx="2680990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Cada GPS</a:t>
            </a:r>
            <a:endParaRPr lang="en-US" sz="235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modelo locação</a:t>
            </a:r>
            <a:endParaRPr lang="en-US" sz="2350" dirty="0"/>
          </a:p>
        </p:txBody>
      </p:sp>
      <p:sp>
        <p:nvSpPr>
          <p:cNvPr id="6" name="Shape 4"/>
          <p:cNvSpPr/>
          <p:nvPr/>
        </p:nvSpPr>
        <p:spPr>
          <a:xfrm>
            <a:off x="529530" y="2399854"/>
            <a:ext cx="2680990" cy="14883"/>
          </a:xfrm>
          <a:prstGeom prst="roundRect">
            <a:avLst>
              <a:gd name="adj" fmla="val 33755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9530" y="2558058"/>
            <a:ext cx="2680990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Uso ilimitado</a:t>
            </a:r>
            <a:endParaRPr lang="en-US" sz="900" dirty="0"/>
          </a:p>
          <a:p>
            <a:pPr marL="0" indent="0" algn="ctr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sem restrições de alunos</a:t>
            </a:r>
            <a:endParaRPr lang="en-US" sz="900" dirty="0"/>
          </a:p>
          <a:p>
            <a:pPr marL="0" indent="0" algn="ctr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Plataforma intuitíva</a:t>
            </a:r>
            <a:endParaRPr lang="en-US" sz="900" dirty="0"/>
          </a:p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100% personalizado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40547" y="1107430"/>
            <a:ext cx="2505521" cy="1535757"/>
          </a:xfrm>
          <a:prstGeom prst="roundRect">
            <a:avLst>
              <a:gd name="adj" fmla="val 3271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64893" y="1231776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F2F2F3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3566" y="1330449"/>
            <a:ext cx="161479" cy="16147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64893" y="1691506"/>
            <a:ext cx="2256830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Acesso completo à plataforma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664893" y="2166119"/>
            <a:ext cx="225683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Toda a estrutura digital incluída para operar com facilidade.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46974" y="1107430"/>
            <a:ext cx="2505596" cy="1535757"/>
          </a:xfrm>
          <a:prstGeom prst="roundRect">
            <a:avLst>
              <a:gd name="adj" fmla="val 3271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71320" y="1231776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F2F2F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9993" y="1330449"/>
            <a:ext cx="161479" cy="16147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71320" y="1691506"/>
            <a:ext cx="215071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Cadastro ilimitado de alunos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271320" y="1979265"/>
            <a:ext cx="225690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Registre quantos alunos quiser, sem limitações.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540547" y="2744093"/>
            <a:ext cx="5112023" cy="1172542"/>
          </a:xfrm>
          <a:prstGeom prst="roundRect">
            <a:avLst>
              <a:gd name="adj" fmla="val 428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64893" y="2868439"/>
            <a:ext cx="358825" cy="358825"/>
          </a:xfrm>
          <a:prstGeom prst="roundRect">
            <a:avLst>
              <a:gd name="adj" fmla="val 15925391"/>
            </a:avLst>
          </a:prstGeom>
          <a:solidFill>
            <a:srgbClr val="F2F2F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63566" y="2967112"/>
            <a:ext cx="161479" cy="16147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664893" y="332816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Relatórios ilimitados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664893" y="3615928"/>
            <a:ext cx="486333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Gere análises quantas vezes precisar para acompanhar a evolução.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96119" y="4143598"/>
            <a:ext cx="8151763" cy="417612"/>
          </a:xfrm>
          <a:prstGeom prst="roundRect">
            <a:avLst>
              <a:gd name="adj" fmla="val 12030"/>
            </a:avLst>
          </a:prstGeom>
          <a:solidFill>
            <a:srgbClr val="183A1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702" y="4307384"/>
            <a:ext cx="149498" cy="1195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4783" y="4264223"/>
            <a:ext cx="810071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Uma oferta simples, escalável e de alto valor: você paga por GPS e entrega uma experiência completa para sua escola, quadra ou centro esportivo.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478</Words>
  <Application>Microsoft Office PowerPoint</Application>
  <PresentationFormat>Apresentação na tela (16:9)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Roboto Light</vt:lpstr>
      <vt:lpstr>Poppins Light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Cristian Mello</cp:lastModifiedBy>
  <cp:revision>2</cp:revision>
  <dcterms:created xsi:type="dcterms:W3CDTF">2026-06-19T03:00:39Z</dcterms:created>
  <dcterms:modified xsi:type="dcterms:W3CDTF">2026-06-29T03:33:34Z</dcterms:modified>
</cp:coreProperties>
</file>